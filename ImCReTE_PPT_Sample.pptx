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8" r:id="rId10"/>
    <p:sldId id="269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364" autoAdjust="0"/>
  </p:normalViewPr>
  <p:slideViewPr>
    <p:cSldViewPr snapToGrid="0">
      <p:cViewPr varScale="1">
        <p:scale>
          <a:sx n="78" d="100"/>
          <a:sy n="78" d="100"/>
        </p:scale>
        <p:origin x="192" y="9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IMP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0B5C6-21E7-480D-87A6-141C1C261131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23F49-7BEF-47E4-9C1F-96D4146088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69863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IMP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4DD36-DA2B-43A8-9CE9-22C170B1CFC7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AD856-D93F-47A4-87B0-71BEF60B63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61526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AD0F4-E989-4F0E-8204-05D799C9D3C8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692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5317E-C276-4A12-8E42-8FAE156A8A61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350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6C5-1F6D-42DA-8254-70AFA0A9257B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46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219B4-3925-408B-98A3-A49F21EB67BC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459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D99FE-7DEF-4C98-86E3-8CE945C37CB7}" type="datetime1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477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94FFB4-9A81-4951-9125-D41294F61041}" type="datetime1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874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84715-ED21-4BB6-9EBC-1BD40DD5875B}" type="datetime1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380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ABBB9-2A7A-42E4-BBB5-FB9FB8F65845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6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CA6A1-0F22-4A74-9E4D-06BFA8D65531}" type="datetime1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76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842BA-CA71-4D9C-81F7-1D2A715A3B55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411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B9AFA-679E-4A5B-844D-3B2E90C5E9E8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53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478E6-BCF1-46D7-BB78-D19606EFD723}" type="datetime1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ImCReTE-2026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39ACF-1869-43B5-9F79-5451DBF6E9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90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836" y="2673927"/>
            <a:ext cx="12081164" cy="35030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Paper ID: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sz="2400" b="1" dirty="0">
                <a:solidFill>
                  <a:srgbClr val="7030A0"/>
                </a:solidFill>
              </a:rPr>
            </a:br>
            <a:r>
              <a:rPr lang="en-US" sz="2400" b="1" dirty="0">
                <a:solidFill>
                  <a:srgbClr val="7030A0"/>
                </a:solidFill>
              </a:rPr>
              <a:t>Paper Title : Adaptive Traffic Prediction Model Using KNN and Cross-City Transfer Learning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sz="2400" b="1" dirty="0">
                <a:solidFill>
                  <a:srgbClr val="7030A0"/>
                </a:solidFill>
              </a:rPr>
            </a:br>
            <a:r>
              <a:rPr lang="en-US" sz="2400" b="1" dirty="0">
                <a:solidFill>
                  <a:srgbClr val="7030A0"/>
                </a:solidFill>
              </a:rPr>
              <a:t>Authors Name: Rohit </a:t>
            </a:r>
            <a:r>
              <a:rPr lang="en-US" sz="2400" b="1" dirty="0" err="1">
                <a:solidFill>
                  <a:srgbClr val="7030A0"/>
                </a:solidFill>
              </a:rPr>
              <a:t>Denge</a:t>
            </a:r>
            <a:r>
              <a:rPr lang="en-US" sz="2400" b="1" dirty="0">
                <a:solidFill>
                  <a:srgbClr val="7030A0"/>
                </a:solidFill>
              </a:rPr>
              <a:t> , Chirag Deshmukh , Dr. K. K . </a:t>
            </a:r>
            <a:r>
              <a:rPr lang="en-US" sz="2400" b="1" dirty="0" err="1">
                <a:solidFill>
                  <a:srgbClr val="7030A0"/>
                </a:solidFill>
              </a:rPr>
              <a:t>Misal</a:t>
            </a: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7030A0"/>
                </a:solidFill>
              </a:rPr>
              <a:t>Affiliation: KJEI's Trinity Academy of Engineering, Pune</a:t>
            </a:r>
            <a:endParaRPr lang="en-IN" sz="2400" b="1" dirty="0">
              <a:solidFill>
                <a:srgbClr val="7030A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64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598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34291"/>
            <a:ext cx="12191999" cy="5442675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Style &amp; Size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Titles: 24–28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Text: 18–24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Fonts: Times New Roman, Arial, Calibri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Colour Scheme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2–3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good contrast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&amp; Spacing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alignment of content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clutter using white space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Slides &amp; Timing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15 slides (excluding first 2 slides)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minutes total (including Q&amp;A)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Naming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as Paper ID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923931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34291"/>
            <a:ext cx="12191999" cy="54426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Survey/Review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Statement/Motivation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Methodology/System Architecture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3409901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110" y="1025236"/>
            <a:ext cx="11873346" cy="51517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 Growth: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Rapidly growing cities face serious challenges with traffic congestion.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travel time, higher fuel consumption, and environmental pollution.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Need: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 systems are vital for effective management and informed travel decisions.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 that combines KNN with Cross-City Transfer Learning to provide  real-time insights.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470660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Survey/Review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872836"/>
            <a:ext cx="12192000" cy="53041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Recognition: </a:t>
            </a:r>
            <a:r>
              <a:rPr lang="en-US" sz="2400" dirty="0"/>
              <a:t>KNN is highly effective at spotting patterns in historical traffic data.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Scarcity: </a:t>
            </a:r>
            <a:r>
              <a:rPr lang="en-US" sz="2400" dirty="0"/>
              <a:t>Traditional machine learning models struggle in cities that lack sufficient training data.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 </a:t>
            </a:r>
            <a:r>
              <a:rPr lang="en-US" sz="2400" dirty="0"/>
              <a:t>Research suggests "borrowing" wisdom from data-rich cities to assist data-poor regions.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Factors: </a:t>
            </a:r>
            <a:r>
              <a:rPr lang="en-US" sz="2400" dirty="0"/>
              <a:t>Previous studies highlight that weather and environmental conditions significantly impact traffic flow.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1664408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Statement/Motivation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34291"/>
            <a:ext cx="12191999" cy="54426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sz="2400" dirty="0"/>
              <a:t>Most traffic models hit a "wall" when applied to new or smaller cities without massive local datasets.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</a:t>
            </a:r>
            <a:r>
              <a:rPr lang="en-US" sz="2400" dirty="0"/>
              <a:t>To create a greener, less stressful urban travel experience by making "smart cities" even smarter.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scalable, adaptive system that reduces reliance and massive local data sets.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2626162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34291"/>
            <a:ext cx="12191999" cy="54426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implement a </a:t>
            </a:r>
            <a:r>
              <a:rPr lang="en-US" sz="2400" b="1" dirty="0"/>
              <a:t>K-Nearest Neighbor (KNN)</a:t>
            </a:r>
            <a:r>
              <a:rPr lang="en-US" sz="2400" dirty="0"/>
              <a:t> algorithm for finding similar historical traffic patterns.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integrate </a:t>
            </a:r>
            <a:r>
              <a:rPr lang="en-US" sz="2400" b="1" dirty="0"/>
              <a:t>Cross-City Transfer Learning</a:t>
            </a:r>
            <a:r>
              <a:rPr lang="en-US" sz="2400" dirty="0"/>
              <a:t> to enhance performance in data-scarce regions.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factor in </a:t>
            </a:r>
            <a:r>
              <a:rPr lang="en-US" sz="2400" b="1" dirty="0"/>
              <a:t>real-time external variables</a:t>
            </a:r>
            <a:r>
              <a:rPr lang="en-US" sz="2400" dirty="0"/>
              <a:t> such as temperature and weather.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/>
              <a:t>develop a </a:t>
            </a:r>
            <a:r>
              <a:rPr lang="en-US" sz="2400" b="1" dirty="0"/>
              <a:t>user-friendly web application</a:t>
            </a:r>
            <a:r>
              <a:rPr lang="en-US" sz="2400" dirty="0"/>
              <a:t> for real-time monitoring and route planning.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3882168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Methodology/System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34291"/>
            <a:ext cx="12191999" cy="54426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</a:t>
            </a:r>
            <a:r>
              <a:rPr lang="en-US" sz="2400" dirty="0"/>
              <a:t>Gathering live traffic data via public APIs (TomTom/Google Maps) and weather data (</a:t>
            </a:r>
            <a:r>
              <a:rPr lang="en-US" sz="2400" dirty="0" err="1"/>
              <a:t>OpenWeatherMap</a:t>
            </a:r>
            <a:r>
              <a:rPr lang="en-US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Preprocessing: </a:t>
            </a:r>
            <a:r>
              <a:rPr lang="en-US" sz="2400" dirty="0"/>
              <a:t>Cleaning data by removing missing values and standardizing characteristics.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Application: </a:t>
            </a:r>
            <a:r>
              <a:rPr lang="en-US" sz="2400" dirty="0"/>
              <a:t>Comparing current road conditions against processed historical data to find matches.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Transfer: </a:t>
            </a:r>
            <a:r>
              <a:rPr lang="en-US" sz="2400" dirty="0"/>
              <a:t>Applying learned parameters from a data-rich city to the target city.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1133338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875A9-8A27-47EC-9D1F-6B5B86D2A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4903"/>
            <a:ext cx="12192000" cy="597309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Layer </a:t>
            </a:r>
            <a:r>
              <a:rPr lang="en-US" sz="2400" b="1" dirty="0"/>
              <a:t>: </a:t>
            </a:r>
            <a:r>
              <a:rPr lang="en-US" sz="2400" dirty="0"/>
              <a:t>Web interface (HTML, CSS, JS) for commuters.</a:t>
            </a:r>
          </a:p>
          <a:p>
            <a:endParaRPr lang="en-US" sz="2400" dirty="0"/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Layer: </a:t>
            </a:r>
            <a:r>
              <a:rPr lang="en-US" sz="2400" dirty="0"/>
              <a:t>Backend server for model execution.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Layer: </a:t>
            </a:r>
            <a:r>
              <a:rPr lang="en-US" sz="2400" dirty="0"/>
              <a:t>Integration of Traffic/Weather APIs and Historical Databases.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56E48-0EDB-469E-9E7D-84BD4609D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1B6DC95-E110-440F-BDBF-2E4D1F9F5EDC}"/>
              </a:ext>
            </a:extLst>
          </p:cNvPr>
          <p:cNvSpPr txBox="1">
            <a:spLocks/>
          </p:cNvSpPr>
          <p:nvPr/>
        </p:nvSpPr>
        <p:spPr>
          <a:xfrm>
            <a:off x="0" y="14089"/>
            <a:ext cx="12192000" cy="734290"/>
          </a:xfrm>
          <a:prstGeom prst="rect">
            <a:avLst/>
          </a:prstGeom>
          <a:solidFill>
            <a:srgbClr val="00B0F0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863534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166AF-F82A-49E7-A3A9-F7EA08015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1895"/>
            <a:ext cx="12192000" cy="598610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</a:t>
            </a:r>
            <a:r>
              <a:rPr lang="en-US" dirty="0"/>
              <a:t>Transfer learning allowed for greater flexibility across different urban environments.</a:t>
            </a:r>
          </a:p>
          <a:p>
            <a:endParaRPr lang="en-US" dirty="0"/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Experience: </a:t>
            </a:r>
            <a:r>
              <a:rPr lang="en-US" dirty="0"/>
              <a:t>The web application provides an intuitive visualization of expected congestion levels.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/>
              <a:t>Efficiency:</a:t>
            </a:r>
            <a:r>
              <a:rPr lang="en-US"/>
              <a:t> The model successfully detects congestion levels early, helping users avoid bottlenecks.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47213-7A15-4632-8C8F-33A06712E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ImCReTE-2026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EE5003-B74B-43E7-BB08-5099FF3A1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361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858982"/>
            <a:ext cx="12192000" cy="53179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Scoring: </a:t>
            </a:r>
            <a:r>
              <a:rPr lang="en-US" sz="2400" dirty="0"/>
              <a:t>The system predicts congestion on a scale of 0 to 10.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Accuracy: </a:t>
            </a:r>
            <a:r>
              <a:rPr lang="en-US" sz="2400" dirty="0"/>
              <a:t>Utilizing knowledge from other cities proved more accurate than using only sparse local data.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Robustness: </a:t>
            </a:r>
            <a:r>
              <a:rPr lang="en-US" sz="2400" dirty="0"/>
              <a:t>By tracking current inputs while referencing history, the model remains stable under varying conditions.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2873681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34291"/>
            <a:ext cx="12191999" cy="54426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Success: </a:t>
            </a:r>
            <a:r>
              <a:rPr lang="en-US" sz="2400" dirty="0"/>
              <a:t>We successfully proposed an adaptive model combining KNN and Transfer Learning.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particularly suited for reliable short-term traffic analysis.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lang="en-US" sz="2400" dirty="0"/>
              <a:t>Helps in minimizing bottlenecks, reducing fuel utilization, and lowering ecological impact.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</a:t>
            </a:r>
            <a:r>
              <a:rPr lang="en-US" sz="2400" dirty="0"/>
              <a:t>Potential for expansion into broader Smart City and Intelligent Transportation systems.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2101219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34290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734291"/>
            <a:ext cx="12191999" cy="544267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en-US" sz="2400" dirty="0"/>
              <a:t>Cover, T.M. &amp; Hart, P.E., "Nearest Neighbor Pattern Classification," IEEE, 1967.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</a:t>
            </a:r>
            <a:r>
              <a:rPr lang="fr-FR" sz="2400" dirty="0"/>
              <a:t>TomTom Traffic API Documentation, 2024.</a:t>
            </a:r>
          </a:p>
          <a:p>
            <a:pPr>
              <a:lnSpc>
                <a:spcPct val="15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en-US" sz="2400" dirty="0"/>
              <a:t>Open Weather Map API Documentation, 2024.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</a:t>
            </a:r>
            <a:r>
              <a:rPr lang="en-US" sz="2400" dirty="0"/>
              <a:t>Pan, S.J. &amp; Yang, Q., "A Survey on Transfer Learning," IEEE, 2010.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0" y="6356350"/>
            <a:ext cx="12192000" cy="50165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algn="just"/>
            <a:r>
              <a:rPr lang="en-IN" sz="2000" b="1" dirty="0">
                <a:solidFill>
                  <a:srgbClr val="FF0000"/>
                </a:solidFill>
              </a:rPr>
              <a:t>TAE, PUNE                                                                      Date : 11/04/2026                                                        ImCReTE-2026</a:t>
            </a:r>
          </a:p>
        </p:txBody>
      </p:sp>
    </p:spTree>
    <p:extLst>
      <p:ext uri="{BB962C8B-B14F-4D97-AF65-F5344CB8AC3E}">
        <p14:creationId xmlns:p14="http://schemas.microsoft.com/office/powerpoint/2010/main" val="876142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800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Presentation Guidelines</vt:lpstr>
      <vt:lpstr>Contents</vt:lpstr>
      <vt:lpstr>Introduction</vt:lpstr>
      <vt:lpstr>Literature Survey/Review</vt:lpstr>
      <vt:lpstr>Problem Statement/Motivation</vt:lpstr>
      <vt:lpstr>Objectives</vt:lpstr>
      <vt:lpstr>Methodology/System Architecture</vt:lpstr>
      <vt:lpstr>PowerPoint Presentation</vt:lpstr>
      <vt:lpstr>Results and Discussions</vt:lpstr>
      <vt:lpstr>Results and Discussions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user</cp:lastModifiedBy>
  <cp:revision>11</cp:revision>
  <dcterms:created xsi:type="dcterms:W3CDTF">2026-04-05T05:53:45Z</dcterms:created>
  <dcterms:modified xsi:type="dcterms:W3CDTF">2026-04-09T07:49:16Z</dcterms:modified>
</cp:coreProperties>
</file>